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9C3D8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40" kern="0" dirty="0">
                <a:solidFill>
                  <a:srgbClr val="6F8DA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CARE SENSE  ·  CONTACTLESS CARE INTELLIGENCE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03136" y="402336"/>
            <a:ext cx="4956048" cy="5788152"/>
          </a:xfrm>
          <a:prstGeom prst="roundRect">
            <a:avLst>
              <a:gd name="adj" fmla="val 2952"/>
            </a:avLst>
          </a:prstGeom>
          <a:solidFill>
            <a:srgbClr val="102A42"/>
          </a:solidFill>
          <a:ln w="12700">
            <a:solidFill>
              <a:srgbClr val="1D3B54"/>
            </a:solidFill>
            <a:prstDash val="solid"/>
          </a:ln>
        </p:spPr>
      </p:sp>
      <p:pic>
        <p:nvPicPr>
          <p:cNvPr id="3" name="Image 0" descr="assets/dashboard.png">    </p:cNvPr>
          <p:cNvPicPr>
            <a:picLocks noChangeAspect="1"/>
          </p:cNvPicPr>
          <p:nvPr/>
        </p:nvPicPr>
        <p:blipFill>
          <a:blip r:embed="rId1"/>
          <a:srcRect l="0" r="0" t="3127" b="3127"/>
          <a:stretch/>
        </p:blipFill>
        <p:spPr>
          <a:xfrm>
            <a:off x="6839712" y="438912"/>
            <a:ext cx="4882896" cy="5715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72784" y="73152"/>
            <a:ext cx="1371600" cy="6400800"/>
          </a:xfrm>
          <a:prstGeom prst="rect">
            <a:avLst/>
          </a:prstGeom>
          <a:solidFill>
            <a:srgbClr val="071525">
              <a:alpha val="95000"/>
            </a:srgbClr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6928" y="566928"/>
            <a:ext cx="2121408" cy="310896"/>
          </a:xfrm>
          <a:prstGeom prst="roundRect">
            <a:avLst>
              <a:gd name="adj" fmla="val 47059"/>
            </a:avLst>
          </a:prstGeom>
          <a:solidFill>
            <a:srgbClr val="0B263A"/>
          </a:solidFill>
          <a:ln w="12700">
            <a:solidFill>
              <a:srgbClr val="5FE1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5760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E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AIoT · 無接觸 · 即時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118872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把照護量測，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從逐床作業變成即時感知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6928" y="281635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20" kern="0" dirty="0">
                <a:solidFill>
                  <a:srgbClr val="5FE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CARE SENSE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" y="3310128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無接觸 AIoT 照護感測系統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85216" y="397764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連續掌握生命表徵、照護動作與床邊安全，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把資料直接送到需要它的平台。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" y="5166360"/>
            <a:ext cx="5074920" cy="0"/>
          </a:xfrm>
          <a:prstGeom prst="line">
            <a:avLst/>
          </a:prstGeom>
          <a:noFill/>
          <a:ln w="15240">
            <a:solidFill>
              <a:srgbClr val="1D3B54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585216" y="53766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PRODUCT OVERVIEW  / 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PRODUCT PROMISE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一套系統，接手日常量測與持續觀察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讓照護人員不必一直「去量」，而是在需要介入時收到清楚訊號。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2578608" cy="1554480"/>
          </a:xfrm>
          <a:prstGeom prst="roundRect">
            <a:avLst>
              <a:gd name="adj" fmla="val 8235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64008" cy="1554480"/>
          </a:xfrm>
          <a:prstGeom prst="rect">
            <a:avLst/>
          </a:prstGeom>
          <a:solidFill>
            <a:srgbClr val="19C3D8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901952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無接觸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86384" y="2340864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降低配戴與操作負擔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" y="2651760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不需貼片、不需綁帶；以非侵入式感測持續取得生命表徵。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10128" y="1737360"/>
            <a:ext cx="2578608" cy="1554480"/>
          </a:xfrm>
          <a:prstGeom prst="roundRect">
            <a:avLst>
              <a:gd name="adj" fmla="val 8235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737360"/>
            <a:ext cx="64008" cy="1554480"/>
          </a:xfrm>
          <a:prstGeom prst="rect">
            <a:avLst/>
          </a:prstGeom>
          <a:solidFill>
            <a:srgbClr val="2D6CF6"/>
          </a:solidFill>
          <a:ln w="12700">
            <a:solidFill>
              <a:srgbClr val="2D6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901952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24 / 7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529584" y="2340864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連續監測與留痕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29584" y="2651760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即時資料、事件與歷史趨勢同步保存，支援追溯與交班。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53328" y="1737360"/>
            <a:ext cx="2578608" cy="1554480"/>
          </a:xfrm>
          <a:prstGeom prst="roundRect">
            <a:avLst>
              <a:gd name="adj" fmla="val 8235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1737360"/>
            <a:ext cx="64008" cy="1554480"/>
          </a:xfrm>
          <a:prstGeom prst="rect">
            <a:avLst/>
          </a:prstGeom>
          <a:solidFill>
            <a:srgbClr val="D948A8"/>
          </a:solidFill>
          <a:ln w="12700">
            <a:solidFill>
              <a:srgbClr val="D94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901952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AIoT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272784" y="2340864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邊緣感測＋雲端串接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72784" y="2651760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從床邊感測、Redis 即時資料到 API 與報表輸出。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796528" y="1737360"/>
            <a:ext cx="2578608" cy="1554480"/>
          </a:xfrm>
          <a:prstGeom prst="roundRect">
            <a:avLst>
              <a:gd name="adj" fmla="val 8235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96528" y="1737360"/>
            <a:ext cx="64008" cy="1554480"/>
          </a:xfrm>
          <a:prstGeom prst="rect">
            <a:avLst/>
          </a:prstGeom>
          <a:solidFill>
            <a:srgbClr val="FF8A2A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15984" y="1901952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一目瞭然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015984" y="2340864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從數據到可行動警報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015984" y="2651760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把異常、離床、翻身拍背與床緣事件轉成清楚狀態。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6928" y="3675888"/>
            <a:ext cx="10808208" cy="1810512"/>
          </a:xfrm>
          <a:prstGeom prst="roundRect">
            <a:avLst>
              <a:gd name="adj" fmla="val 7071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913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核心價值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434340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把照護團隊的時間，從重複量測與抄錄，移回真正需要人的判斷與陪伴。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41248" y="5065776"/>
            <a:ext cx="8961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系統是照護決策輔助工具；實際醫療判斷仍由專業人員負責。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WHY NOW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照護現場的挑戰，不只是人力不足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量測、巡視、抄錄與回報分散在不同時間點，真正的風險可能出現在兩次巡視之間。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89888" y="17373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重複量測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29000" y="17373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心率、呼吸與溫度需要逐床操作，時間被例行工作切碎。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71600" y="2395728"/>
            <a:ext cx="6565392" cy="0"/>
          </a:xfrm>
          <a:prstGeom prst="line">
            <a:avLst/>
          </a:prstGeom>
          <a:noFill/>
          <a:ln w="10160">
            <a:solidFill>
              <a:srgbClr val="1D3B54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658368" y="27614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89888" y="27614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非連續資訊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76148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單點數值難以看出變化趨勢，也容易錯過短暫異常。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71600" y="3419856"/>
            <a:ext cx="6565392" cy="0"/>
          </a:xfrm>
          <a:prstGeom prst="line">
            <a:avLst/>
          </a:prstGeom>
          <a:noFill/>
          <a:ln w="10160">
            <a:solidFill>
              <a:srgbClr val="1D3B54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658368" y="378561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89888" y="378561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照護事件難留痕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78561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翻身、拍背與床緣風險往往依賴人工記錄與回憶。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0" y="4443984"/>
            <a:ext cx="6565392" cy="0"/>
          </a:xfrm>
          <a:prstGeom prst="line">
            <a:avLst/>
          </a:prstGeom>
          <a:noFill/>
          <a:ln w="10160">
            <a:solidFill>
              <a:srgbClr val="1D3B54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58368" y="48097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89888" y="480974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資料孤島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48097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儀器、護理站、報表與院內平台之間缺乏一致介面。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71600" y="5468112"/>
            <a:ext cx="6565392" cy="0"/>
          </a:xfrm>
          <a:prstGeom prst="line">
            <a:avLst/>
          </a:prstGeom>
          <a:noFill/>
          <a:ln w="10160">
            <a:solidFill>
              <a:srgbClr val="1D3B5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458200" y="1691640"/>
            <a:ext cx="2834640" cy="4224528"/>
          </a:xfrm>
          <a:prstGeom prst="roundRect">
            <a:avLst>
              <a:gd name="adj" fmla="val 5806"/>
            </a:avLst>
          </a:prstGeom>
          <a:solidFill>
            <a:srgbClr val="102A42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96528" y="205740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從「固定巡視」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走向「事件驅動」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805672" y="3246120"/>
            <a:ext cx="2057400" cy="0"/>
          </a:xfrm>
          <a:prstGeom prst="line">
            <a:avLst/>
          </a:prstGeom>
          <a:noFill/>
          <a:ln w="27940">
            <a:solidFill>
              <a:srgbClr val="19C3D8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8796528" y="3566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E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系統持續看守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96528" y="4160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人員聚焦介入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96528" y="4754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資料自動留痕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SOLUTION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無接觸感測，從床邊一路到決策端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同一條資料鏈，同時支援即時監測、AI 判定、事件警報與跨平台串接。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627632" cy="3063240"/>
          </a:xfrm>
          <a:prstGeom prst="roundRect">
            <a:avLst>
              <a:gd name="adj" fmla="val 8989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2176272"/>
            <a:ext cx="640080" cy="640080"/>
          </a:xfrm>
          <a:prstGeom prst="ellipse">
            <a:avLst/>
          </a:prstGeom>
          <a:solidFill>
            <a:srgbClr val="19C3D8">
              <a:alpha val="16000"/>
            </a:srgbClr>
          </a:solidFill>
          <a:ln w="17780">
            <a:solidFill>
              <a:srgbClr val="19C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090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感測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7033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無接觸取得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生命表徵與熱像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359152" y="3063240"/>
            <a:ext cx="411480" cy="566928"/>
          </a:xfrm>
          <a:prstGeom prst="chevron">
            <a:avLst/>
          </a:prstGeom>
          <a:solidFill>
            <a:srgbClr val="1D3B54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1874520"/>
            <a:ext cx="1627632" cy="3063240"/>
          </a:xfrm>
          <a:prstGeom prst="roundRect">
            <a:avLst>
              <a:gd name="adj" fmla="val 8989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5576" y="2176272"/>
            <a:ext cx="640080" cy="640080"/>
          </a:xfrm>
          <a:prstGeom prst="ellipse">
            <a:avLst/>
          </a:prstGeom>
          <a:solidFill>
            <a:srgbClr val="2D6CF6">
              <a:alpha val="16000"/>
            </a:srgbClr>
          </a:solidFill>
          <a:ln w="17780">
            <a:solidFill>
              <a:srgbClr val="2D6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C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3090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處理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36392" y="37033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邊緣運算、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資料清洗與儲存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4690872" y="3063240"/>
            <a:ext cx="411480" cy="566928"/>
          </a:xfrm>
          <a:prstGeom prst="chevron">
            <a:avLst/>
          </a:prstGeom>
          <a:solidFill>
            <a:srgbClr val="1D3B54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1874520"/>
            <a:ext cx="1627632" cy="3063240"/>
          </a:xfrm>
          <a:prstGeom prst="roundRect">
            <a:avLst>
              <a:gd name="adj" fmla="val 8989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97296" y="2176272"/>
            <a:ext cx="640080" cy="640080"/>
          </a:xfrm>
          <a:prstGeom prst="ellipse">
            <a:avLst/>
          </a:prstGeom>
          <a:solidFill>
            <a:srgbClr val="D948A8">
              <a:alpha val="16000"/>
            </a:srgbClr>
          </a:solidFill>
          <a:ln w="17780">
            <a:solidFill>
              <a:srgbClr val="D94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7296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8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04688" y="3090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理解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68112" y="37033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人形、翻身拍背、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床緣與異常判定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7022592" y="3063240"/>
            <a:ext cx="411480" cy="566928"/>
          </a:xfrm>
          <a:prstGeom prst="chevron">
            <a:avLst/>
          </a:prstGeom>
          <a:solidFill>
            <a:srgbClr val="1D3B54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1874520"/>
            <a:ext cx="1627632" cy="3063240"/>
          </a:xfrm>
          <a:prstGeom prst="roundRect">
            <a:avLst>
              <a:gd name="adj" fmla="val 8989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9016" y="2176272"/>
            <a:ext cx="640080" cy="640080"/>
          </a:xfrm>
          <a:prstGeom prst="ellipse">
            <a:avLst/>
          </a:prstGeom>
          <a:solidFill>
            <a:srgbClr val="FF8A2A">
              <a:alpha val="16000"/>
            </a:srgbClr>
          </a:solidFill>
          <a:ln w="17780">
            <a:solidFill>
              <a:srgbClr val="FF8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9016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36408" y="3090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行動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99832" y="37033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護理站警報、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趨勢與事件紀錄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9354312" y="3063240"/>
            <a:ext cx="411480" cy="566928"/>
          </a:xfrm>
          <a:prstGeom prst="chevron">
            <a:avLst/>
          </a:prstGeom>
          <a:solidFill>
            <a:srgbClr val="1D3B54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66960" y="1874520"/>
            <a:ext cx="1627632" cy="3063240"/>
          </a:xfrm>
          <a:prstGeom prst="roundRect">
            <a:avLst>
              <a:gd name="adj" fmla="val 8989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60736" y="2176272"/>
            <a:ext cx="640080" cy="640080"/>
          </a:xfrm>
          <a:prstGeom prst="ellipse">
            <a:avLst/>
          </a:prstGeom>
          <a:solidFill>
            <a:srgbClr val="36D399">
              <a:alpha val="16000"/>
            </a:srgbClr>
          </a:solidFill>
          <a:ln w="17780">
            <a:solidFill>
              <a:srgbClr val="36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60736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68128" y="3090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串接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31552" y="370332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API、報表、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指定平台上傳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960120" y="54132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一個感測入口，形成可觀察、可解釋、可串接的照護資料資產。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CONTACTLESS SENSING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不接觸，也能持續掌握關鍵生命表徵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把量測從一次性的動作，轉成連續、可追蹤的資訊。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14600" cy="3246120"/>
          </a:xfrm>
          <a:prstGeom prst="roundRect">
            <a:avLst>
              <a:gd name="adj" fmla="val 5818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48840"/>
            <a:ext cx="128016" cy="128016"/>
          </a:xfrm>
          <a:prstGeom prst="ellipse">
            <a:avLst/>
          </a:prstGeom>
          <a:solidFill>
            <a:srgbClr val="FF5A67"/>
          </a:solidFill>
          <a:ln w="12700">
            <a:solidFill>
              <a:srgbClr val="FF5A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心率 / 心跳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6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BPM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9136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掌握即時心率與心律狀態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2514600" cy="3246120"/>
          </a:xfrm>
          <a:prstGeom prst="roundRect">
            <a:avLst>
              <a:gd name="adj" fmla="val 5818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148840"/>
            <a:ext cx="128016" cy="128016"/>
          </a:xfrm>
          <a:prstGeom prst="ellipse">
            <a:avLst/>
          </a:prstGeom>
          <a:solidFill>
            <a:srgbClr val="19C3D8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呼吸率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30632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RPM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03320" y="39136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連續觀察呼吸頻率與變化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514600" cy="3246120"/>
          </a:xfrm>
          <a:prstGeom prst="roundRect">
            <a:avLst>
              <a:gd name="adj" fmla="val 5818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148840"/>
            <a:ext cx="128016" cy="128016"/>
          </a:xfrm>
          <a:prstGeom prst="ellipse">
            <a:avLst/>
          </a:prstGeom>
          <a:solidFill>
            <a:srgbClr val="FF8A2A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體表溫度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0632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°C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39136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非侵入式取得額頭皮膚表徵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34272" y="1828800"/>
            <a:ext cx="2505456" cy="3246120"/>
          </a:xfrm>
          <a:prstGeom prst="roundRect">
            <a:avLst>
              <a:gd name="adj" fmla="val 5839"/>
            </a:avLst>
          </a:prstGeom>
          <a:solidFill>
            <a:srgbClr val="0B2537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21762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E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無接觸的意義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26880" y="2926080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28529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降低配戴不適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26880" y="3401568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33284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減少逐次操作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26880" y="3877056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38039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適合長時間觀察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326880" y="4352544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55480" y="42793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支援事件前後追溯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19963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體表溫度不等同核心體溫；產品定位為照護監測與決策輔助，非侵入式醫療診斷。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CARE INTELLIGENCE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不只量數值，也理解床邊正在發生什麼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熱像序列將姿態、動作與空間風險轉換成可用事件。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682496"/>
            <a:ext cx="3547872" cy="3044952"/>
          </a:xfrm>
          <a:prstGeom prst="roundRect">
            <a:avLst>
              <a:gd name="adj" fmla="val 4805"/>
            </a:avLst>
          </a:prstGeom>
          <a:solidFill>
            <a:srgbClr val="102A42"/>
          </a:solidFill>
          <a:ln w="12700">
            <a:solidFill>
              <a:srgbClr val="1D3B54"/>
            </a:solidFill>
            <a:prstDash val="solid"/>
          </a:ln>
        </p:spPr>
      </p:sp>
      <p:pic>
        <p:nvPicPr>
          <p:cNvPr id="6" name="Image 0" descr="assets/pose_arms.png">    </p:cNvPr>
          <p:cNvPicPr>
            <a:picLocks noChangeAspect="1"/>
          </p:cNvPicPr>
          <p:nvPr/>
        </p:nvPicPr>
        <p:blipFill>
          <a:blip r:embed="rId1"/>
          <a:srcRect l="3919" r="3919" t="0" b="0"/>
          <a:stretch/>
        </p:blipFill>
        <p:spPr>
          <a:xfrm>
            <a:off x="566928" y="1719072"/>
            <a:ext cx="3474720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25112" y="1682496"/>
            <a:ext cx="3547872" cy="3044952"/>
          </a:xfrm>
          <a:prstGeom prst="roundRect">
            <a:avLst>
              <a:gd name="adj" fmla="val 4805"/>
            </a:avLst>
          </a:prstGeom>
          <a:solidFill>
            <a:srgbClr val="102A42"/>
          </a:solidFill>
          <a:ln w="12700">
            <a:solidFill>
              <a:srgbClr val="1D3B54"/>
            </a:solidFill>
            <a:prstDash val="solid"/>
          </a:ln>
        </p:spPr>
      </p:sp>
      <p:pic>
        <p:nvPicPr>
          <p:cNvPr id="8" name="Image 1" descr="assets/pose_turn.png">    </p:cNvPr>
          <p:cNvPicPr>
            <a:picLocks noChangeAspect="1"/>
          </p:cNvPicPr>
          <p:nvPr/>
        </p:nvPicPr>
        <p:blipFill>
          <a:blip r:embed="rId2"/>
          <a:srcRect l="4810" r="4810" t="0" b="0"/>
          <a:stretch/>
        </p:blipFill>
        <p:spPr>
          <a:xfrm>
            <a:off x="4361688" y="1719072"/>
            <a:ext cx="3474720" cy="2971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19872" y="1682496"/>
            <a:ext cx="3547872" cy="3044952"/>
          </a:xfrm>
          <a:prstGeom prst="roundRect">
            <a:avLst>
              <a:gd name="adj" fmla="val 4805"/>
            </a:avLst>
          </a:prstGeom>
          <a:solidFill>
            <a:srgbClr val="102A42"/>
          </a:solidFill>
          <a:ln w="12700">
            <a:solidFill>
              <a:srgbClr val="1D3B54"/>
            </a:solidFill>
            <a:prstDash val="solid"/>
          </a:ln>
        </p:spPr>
      </p:sp>
      <p:pic>
        <p:nvPicPr>
          <p:cNvPr id="10" name="Image 2" descr="assets/pose_raise.png">    </p:cNvPr>
          <p:cNvPicPr>
            <a:picLocks noChangeAspect="1"/>
          </p:cNvPicPr>
          <p:nvPr/>
        </p:nvPicPr>
        <p:blipFill>
          <a:blip r:embed="rId3"/>
          <a:srcRect l="5839" r="5839" t="0" b="0"/>
          <a:stretch/>
        </p:blipFill>
        <p:spPr>
          <a:xfrm>
            <a:off x="8156448" y="1719072"/>
            <a:ext cx="3474720" cy="2971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207008" y="4919472"/>
            <a:ext cx="2194560" cy="310896"/>
          </a:xfrm>
          <a:prstGeom prst="roundRect">
            <a:avLst>
              <a:gd name="adj" fmla="val 47059"/>
            </a:avLst>
          </a:prstGeom>
          <a:solidFill>
            <a:srgbClr val="102A42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207008" y="4928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姿態與人在床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5001768" y="4919472"/>
            <a:ext cx="2194560" cy="310896"/>
          </a:xfrm>
          <a:prstGeom prst="roundRect">
            <a:avLst>
              <a:gd name="adj" fmla="val 47059"/>
            </a:avLst>
          </a:prstGeom>
          <a:solidFill>
            <a:srgbClr val="102A42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01768" y="4928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翻身／拍背辨識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8796528" y="4919472"/>
            <a:ext cx="2194560" cy="310896"/>
          </a:xfrm>
          <a:prstGeom prst="roundRect">
            <a:avLst>
              <a:gd name="adj" fmla="val 47059"/>
            </a:avLst>
          </a:prstGeom>
          <a:solidFill>
            <a:srgbClr val="102A42"/>
          </a:solidFill>
          <a:ln w="12700">
            <a:solidFill>
              <a:srgbClr val="D948A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796528" y="4928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48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動作與遮擋容錯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914400" y="562356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加上床緣點位後，可同步判斷「安全」或「接觸床緣」，讓照護事件與風險在同一畫面呈現。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FROM SIGNAL TO ACTION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警報不是多一個聲音，而是更清楚的優先順序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把感測結果轉成狀態、事件、通知與可追溯紀錄。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2011680"/>
            <a:ext cx="2240280" cy="2148840"/>
          </a:xfrm>
          <a:prstGeom prst="roundRect">
            <a:avLst>
              <a:gd name="adj" fmla="val 7660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" y="2743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持續偵測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331927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生命表徵、熱像、人在床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090672" y="2770632"/>
            <a:ext cx="347472" cy="548640"/>
          </a:xfrm>
          <a:prstGeom prst="chevron">
            <a:avLst/>
          </a:prstGeom>
          <a:solidFill>
            <a:srgbClr val="1D3B54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2011680"/>
            <a:ext cx="2240280" cy="2148840"/>
          </a:xfrm>
          <a:prstGeom prst="roundRect">
            <a:avLst>
              <a:gd name="adj" fmla="val 7660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13048" y="2743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判讀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13048" y="331927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異常、翻身拍背、床緣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925312" y="2770632"/>
            <a:ext cx="347472" cy="548640"/>
          </a:xfrm>
          <a:prstGeom prst="chevron">
            <a:avLst/>
          </a:prstGeom>
          <a:solidFill>
            <a:srgbClr val="1D3B54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2011680"/>
            <a:ext cx="2240280" cy="2148840"/>
          </a:xfrm>
          <a:prstGeom prst="roundRect">
            <a:avLst>
              <a:gd name="adj" fmla="val 7660"/>
            </a:avLst>
          </a:prstGeom>
          <a:solidFill>
            <a:srgbClr val="142A3D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47688" y="2743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即時提示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47688" y="331927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床位燈號、警報、摘要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759952" y="2770632"/>
            <a:ext cx="347472" cy="548640"/>
          </a:xfrm>
          <a:prstGeom prst="chevron">
            <a:avLst/>
          </a:prstGeom>
          <a:solidFill>
            <a:srgbClr val="1D3B54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53728" y="2011680"/>
            <a:ext cx="2240280" cy="2148840"/>
          </a:xfrm>
          <a:prstGeom prst="roundRect">
            <a:avLst>
              <a:gd name="adj" fmla="val 7660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2328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82328" y="2743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事件留痕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82328" y="331927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時間、數值、熱像與狀態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1143000" y="4709160"/>
            <a:ext cx="9893808" cy="868680"/>
          </a:xfrm>
          <a:prstGeom prst="roundRect">
            <a:avLst>
              <a:gd name="adj" fmla="val 18947"/>
            </a:avLst>
          </a:prstGeom>
          <a:solidFill>
            <a:srgbClr val="0B2638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91947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異常先被看見  →  事件更快被理解  →  處置更容易被追蹤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COMMAND CENTER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一眼掌握整層狀態，點選即看單床細節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床位狀態、警示燈、熱像、生命表徵與歷史趨勢集中在同一工作畫面。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591056"/>
            <a:ext cx="7891272" cy="4572000"/>
          </a:xfrm>
          <a:prstGeom prst="roundRect">
            <a:avLst>
              <a:gd name="adj" fmla="val 3200"/>
            </a:avLst>
          </a:prstGeom>
          <a:solidFill>
            <a:srgbClr val="102A42"/>
          </a:solidFill>
          <a:ln w="12700">
            <a:solidFill>
              <a:srgbClr val="1D3B54"/>
            </a:solidFill>
            <a:prstDash val="solid"/>
          </a:ln>
        </p:spPr>
      </p:sp>
      <p:pic>
        <p:nvPicPr>
          <p:cNvPr id="6" name="Image 0" descr="assets/dashboard.png">    </p:cNvPr>
          <p:cNvPicPr>
            <a:picLocks noChangeAspect="1"/>
          </p:cNvPicPr>
          <p:nvPr/>
        </p:nvPicPr>
        <p:blipFill>
          <a:blip r:embed="rId1"/>
          <a:srcRect l="0" r="0" t="26955" b="26955"/>
          <a:stretch/>
        </p:blipFill>
        <p:spPr>
          <a:xfrm>
            <a:off x="566928" y="1627632"/>
            <a:ext cx="7818120" cy="44988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32520" y="1755648"/>
            <a:ext cx="2542032" cy="841248"/>
          </a:xfrm>
          <a:prstGeom prst="roundRect">
            <a:avLst>
              <a:gd name="adj" fmla="val 13043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9408" y="1965960"/>
            <a:ext cx="91440" cy="91440"/>
          </a:xfrm>
          <a:prstGeom prst="ellipse">
            <a:avLst/>
          </a:prstGeom>
          <a:solidFill>
            <a:srgbClr val="19C3D8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17152" y="18653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全床位總覽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217152" y="21762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快速辨識在線、離床與警示床位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732520" y="2807208"/>
            <a:ext cx="2542032" cy="841248"/>
          </a:xfrm>
          <a:prstGeom prst="roundRect">
            <a:avLst>
              <a:gd name="adj" fmla="val 13043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79408" y="3017520"/>
            <a:ext cx="91440" cy="91440"/>
          </a:xfrm>
          <a:prstGeom prst="ellipse">
            <a:avLst/>
          </a:prstGeom>
          <a:solidFill>
            <a:srgbClr val="FF8A2A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17152" y="29169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單床熱像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217152" y="32278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查看最新影格與歷史時間軸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8732520" y="3858768"/>
            <a:ext cx="2542032" cy="841248"/>
          </a:xfrm>
          <a:prstGeom prst="roundRect">
            <a:avLst>
              <a:gd name="adj" fmla="val 13043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79408" y="4069080"/>
            <a:ext cx="91440" cy="91440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17152" y="39684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即時燈號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217152" y="42793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心率、心律、溫度、呼吸狀態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8732520" y="4910328"/>
            <a:ext cx="2542032" cy="841248"/>
          </a:xfrm>
          <a:prstGeom prst="roundRect">
            <a:avLst>
              <a:gd name="adj" fmla="val 13043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979408" y="5120640"/>
            <a:ext cx="91440" cy="91440"/>
          </a:xfrm>
          <a:prstGeom prst="ellipse">
            <a:avLst/>
          </a:prstGeom>
          <a:solidFill>
            <a:srgbClr val="D948A8"/>
          </a:solidFill>
          <a:ln w="12700">
            <a:solidFill>
              <a:srgbClr val="D948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17152" y="50200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事件追溯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217152" y="53309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依時間範圍回看趨勢與照護情境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AIOT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從感測器到平台，資料鏈可部署、可擴充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即時資料與歷史資料分流，兼顧反應速度、追溯能力與外部整合。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874520" cy="1993392"/>
          </a:xfrm>
          <a:prstGeom prst="roundRect">
            <a:avLst>
              <a:gd name="adj" fmla="val 7805"/>
            </a:avLst>
          </a:prstGeom>
          <a:solidFill>
            <a:srgbClr val="0C2135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8156" y="2395728"/>
            <a:ext cx="566928" cy="566928"/>
          </a:xfrm>
          <a:prstGeom prst="ellipse">
            <a:avLst/>
          </a:prstGeom>
          <a:solidFill>
            <a:srgbClr val="19C3D8">
              <a:alpha val="16000"/>
            </a:srgbClr>
          </a:solidFill>
          <a:ln w="17780">
            <a:solidFill>
              <a:srgbClr val="19C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8156" y="241401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2376" y="3127248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床邊感測器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" y="3529584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生命表徵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32×24 熱像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542032" y="2770632"/>
            <a:ext cx="246888" cy="548640"/>
          </a:xfrm>
          <a:prstGeom prst="chevron">
            <a:avLst/>
          </a:prstGeom>
          <a:solidFill>
            <a:srgbClr val="1D3B54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2103120"/>
            <a:ext cx="1874520" cy="1993392"/>
          </a:xfrm>
          <a:prstGeom prst="roundRect">
            <a:avLst>
              <a:gd name="adj" fmla="val 7805"/>
            </a:avLst>
          </a:prstGeom>
          <a:solidFill>
            <a:srgbClr val="0C2135"/>
          </a:solidFill>
          <a:ln w="12700">
            <a:solidFill>
              <a:srgbClr val="2D6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2716" y="2395728"/>
            <a:ext cx="566928" cy="566928"/>
          </a:xfrm>
          <a:prstGeom prst="ellipse">
            <a:avLst/>
          </a:prstGeom>
          <a:solidFill>
            <a:srgbClr val="2D6CF6">
              <a:alpha val="16000"/>
            </a:srgbClr>
          </a:solidFill>
          <a:ln w="17780">
            <a:solidFill>
              <a:srgbClr val="2D6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2716" y="241401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C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16936" y="3127248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Go 接收服務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16936" y="3529584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資料驗證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即時事件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736592" y="2770632"/>
            <a:ext cx="246888" cy="548640"/>
          </a:xfrm>
          <a:prstGeom prst="chevron">
            <a:avLst/>
          </a:prstGeom>
          <a:solidFill>
            <a:srgbClr val="1D3B54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103120"/>
            <a:ext cx="1874520" cy="1993392"/>
          </a:xfrm>
          <a:prstGeom prst="roundRect">
            <a:avLst>
              <a:gd name="adj" fmla="val 7805"/>
            </a:avLst>
          </a:prstGeom>
          <a:solidFill>
            <a:srgbClr val="0C2135"/>
          </a:solidFill>
          <a:ln w="12700">
            <a:solidFill>
              <a:srgbClr val="D94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37276" y="2395728"/>
            <a:ext cx="566928" cy="566928"/>
          </a:xfrm>
          <a:prstGeom prst="ellipse">
            <a:avLst/>
          </a:prstGeom>
          <a:solidFill>
            <a:srgbClr val="D948A8">
              <a:alpha val="16000"/>
            </a:srgbClr>
          </a:solidFill>
          <a:ln w="17780">
            <a:solidFill>
              <a:srgbClr val="D94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7276" y="241401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8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11496" y="3127248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11496" y="3529584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Redis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931152" y="2770632"/>
            <a:ext cx="246888" cy="548640"/>
          </a:xfrm>
          <a:prstGeom prst="chevron">
            <a:avLst/>
          </a:prstGeom>
          <a:solidFill>
            <a:srgbClr val="1D3B54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2103120"/>
            <a:ext cx="1874520" cy="1993392"/>
          </a:xfrm>
          <a:prstGeom prst="roundRect">
            <a:avLst>
              <a:gd name="adj" fmla="val 7805"/>
            </a:avLst>
          </a:prstGeom>
          <a:solidFill>
            <a:srgbClr val="0C2135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31836" y="2395728"/>
            <a:ext cx="566928" cy="566928"/>
          </a:xfrm>
          <a:prstGeom prst="ellipse">
            <a:avLst/>
          </a:prstGeom>
          <a:solidFill>
            <a:srgbClr val="FF8A2A">
              <a:alpha val="16000"/>
            </a:srgbClr>
          </a:solidFill>
          <a:ln w="17780">
            <a:solidFill>
              <a:srgbClr val="FF8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1836" y="241401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06056" y="3127248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分析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06056" y="3529584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人形／照護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床緣／警報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125712" y="2770632"/>
            <a:ext cx="246888" cy="548640"/>
          </a:xfrm>
          <a:prstGeom prst="chevron">
            <a:avLst/>
          </a:prstGeom>
          <a:solidFill>
            <a:srgbClr val="1D3B54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72600" y="2103120"/>
            <a:ext cx="2240280" cy="1993392"/>
          </a:xfrm>
          <a:prstGeom prst="roundRect">
            <a:avLst>
              <a:gd name="adj" fmla="val 7339"/>
            </a:avLst>
          </a:prstGeom>
          <a:solidFill>
            <a:srgbClr val="0C2135"/>
          </a:solidFill>
          <a:ln w="12700">
            <a:solidFill>
              <a:srgbClr val="36D3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09276" y="2395728"/>
            <a:ext cx="566928" cy="566928"/>
          </a:xfrm>
          <a:prstGeom prst="ellipse">
            <a:avLst/>
          </a:prstGeom>
          <a:solidFill>
            <a:srgbClr val="36D399">
              <a:alpha val="16000"/>
            </a:srgbClr>
          </a:solidFill>
          <a:ln w="17780">
            <a:solidFill>
              <a:srgbClr val="36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09276" y="241401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00616" y="3127248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應用與串接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00616" y="3529584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護理站／API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報表／外部平台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1051560" y="4773168"/>
            <a:ext cx="3310128" cy="713232"/>
          </a:xfrm>
          <a:prstGeom prst="roundRect">
            <a:avLst>
              <a:gd name="adj" fmla="val 17949"/>
            </a:avLst>
          </a:prstGeom>
          <a:solidFill>
            <a:srgbClr val="0B2537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4440" y="49377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74520" y="4892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Redis 保存熱像與分析狀態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4754880" y="4773168"/>
            <a:ext cx="3310128" cy="713232"/>
          </a:xfrm>
          <a:prstGeom prst="roundRect">
            <a:avLst>
              <a:gd name="adj" fmla="val 17949"/>
            </a:avLst>
          </a:prstGeom>
          <a:solidFill>
            <a:srgbClr val="0B2537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9377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歷史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77840" y="4892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保存可查詢量測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8458200" y="4773168"/>
            <a:ext cx="3310128" cy="713232"/>
          </a:xfrm>
          <a:prstGeom prst="roundRect">
            <a:avLst>
              <a:gd name="adj" fmla="val 17949"/>
            </a:avLst>
          </a:prstGeom>
          <a:solidFill>
            <a:srgbClr val="0B2537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1080" y="49377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開放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81160" y="4892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REST API 與報表輸出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OPEN INTEGRATION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即時數據不被鎖住，可送到指定平台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 API 或報表方式，銜接院內系統、照護平台、資料倉儲與管理儀表板。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4983480" cy="4160520"/>
          </a:xfrm>
          <a:prstGeom prst="roundRect">
            <a:avLst>
              <a:gd name="adj" fmla="val 3516"/>
            </a:avLst>
          </a:prstGeom>
          <a:solidFill>
            <a:srgbClr val="081C2C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57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REST 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C5E8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 /api/ward/sensors/0201_04/history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C5E8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C5E8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"heart_rate": 72,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C5E8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"breath_rate": 16,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C5E8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"surface_temperature": 31.6,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C5E8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"turning_care": true,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C5E8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"edge_contact": false,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C5E8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"timestamp": "2026-07-17T15:00:00+08:00"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C5E8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989320" y="1810512"/>
            <a:ext cx="5193792" cy="804672"/>
          </a:xfrm>
          <a:prstGeom prst="roundRect">
            <a:avLst>
              <a:gd name="adj" fmla="val 13636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6208" y="197510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30568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 API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0" y="19202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查詢最新狀態、歷史趨勢與事件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2834640"/>
            <a:ext cx="5193792" cy="804672"/>
          </a:xfrm>
          <a:prstGeom prst="roundRect">
            <a:avLst>
              <a:gd name="adj" fmla="val 13636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299923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30568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事件推送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29443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異常或照護事件可推送指定端點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3858768"/>
            <a:ext cx="5193792" cy="804672"/>
          </a:xfrm>
          <a:prstGeom prst="roundRect">
            <a:avLst>
              <a:gd name="adj" fmla="val 13636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402336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30568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報表輸出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0" y="396849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依床位、時段與事件產出摘要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9320" y="4882896"/>
            <a:ext cx="5193792" cy="804672"/>
          </a:xfrm>
          <a:prstGeom prst="roundRect">
            <a:avLst>
              <a:gd name="adj" fmla="val 13636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50474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30568" y="4992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平台整合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49926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串接 HIS、照護平台或資料湖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BUSINESS VALUE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同一套系統，回應不同角色的目標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從第一線效率、管理可視性到 IT 整合，形成可持續擴充的照護基礎。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2542032" cy="4251960"/>
          </a:xfrm>
          <a:prstGeom prst="roundRect">
            <a:avLst>
              <a:gd name="adj" fmla="val 5755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照護人員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少做重複量測，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更快看見需要介入的床位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1920240" cy="0"/>
          </a:xfrm>
          <a:prstGeom prst="line">
            <a:avLst/>
          </a:prstGeom>
          <a:noFill/>
          <a:ln w="12700">
            <a:solidFill>
              <a:srgbClr val="1D3B5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41248" y="4096512"/>
            <a:ext cx="73152" cy="73152"/>
          </a:xfrm>
          <a:prstGeom prst="ellipse">
            <a:avLst/>
          </a:prstGeom>
          <a:solidFill>
            <a:srgbClr val="19C3D8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40142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即時狀態集中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4572000"/>
            <a:ext cx="73152" cy="73152"/>
          </a:xfrm>
          <a:prstGeom prst="ellipse">
            <a:avLst/>
          </a:prstGeom>
          <a:solidFill>
            <a:srgbClr val="19C3D8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44897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事件自動留痕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" y="5047488"/>
            <a:ext cx="73152" cy="73152"/>
          </a:xfrm>
          <a:prstGeom prst="ellipse">
            <a:avLst/>
          </a:prstGeom>
          <a:solidFill>
            <a:srgbClr val="19C3D8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965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減少人工抄錄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737360"/>
            <a:ext cx="2542032" cy="4251960"/>
          </a:xfrm>
          <a:prstGeom prst="roundRect">
            <a:avLst>
              <a:gd name="adj" fmla="val 5755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299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機構管理者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269748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把照護品質與流程，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轉成可觀察資訊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3703320"/>
            <a:ext cx="1920240" cy="0"/>
          </a:xfrm>
          <a:prstGeom prst="line">
            <a:avLst/>
          </a:prstGeom>
          <a:noFill/>
          <a:ln w="12700">
            <a:solidFill>
              <a:srgbClr val="1D3B5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675888" y="4096512"/>
            <a:ext cx="73152" cy="73152"/>
          </a:xfrm>
          <a:prstGeom prst="ellipse">
            <a:avLst/>
          </a:prstGeom>
          <a:solidFill>
            <a:srgbClr val="FF8A2A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4488" y="40142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風險與警報摘要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75888" y="4572000"/>
            <a:ext cx="73152" cy="73152"/>
          </a:xfrm>
          <a:prstGeom prst="ellipse">
            <a:avLst/>
          </a:prstGeom>
          <a:solidFill>
            <a:srgbClr val="FF8A2A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04488" y="44897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照護事件追溯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75888" y="5047488"/>
            <a:ext cx="73152" cy="73152"/>
          </a:xfrm>
          <a:prstGeom prst="ellipse">
            <a:avLst/>
          </a:prstGeom>
          <a:solidFill>
            <a:srgbClr val="FF8A2A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04488" y="4965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導入成效可管理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36208" y="1737360"/>
            <a:ext cx="2542032" cy="4251960"/>
          </a:xfrm>
          <a:prstGeom prst="roundRect">
            <a:avLst>
              <a:gd name="adj" fmla="val 5755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0299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資訊團隊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269748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標準介面整合，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降低資料孤島與維運成本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3703320"/>
            <a:ext cx="1920240" cy="0"/>
          </a:xfrm>
          <a:prstGeom prst="line">
            <a:avLst/>
          </a:prstGeom>
          <a:noFill/>
          <a:ln w="12700">
            <a:solidFill>
              <a:srgbClr val="1D3B5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510528" y="4096512"/>
            <a:ext cx="73152" cy="73152"/>
          </a:xfrm>
          <a:prstGeom prst="ellipse">
            <a:avLst/>
          </a:prstGeom>
          <a:solidFill>
            <a:srgbClr val="2D6CF6"/>
          </a:solidFill>
          <a:ln w="12700">
            <a:solidFill>
              <a:srgbClr val="2D6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40142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API 優先架構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10528" y="4572000"/>
            <a:ext cx="73152" cy="73152"/>
          </a:xfrm>
          <a:prstGeom prst="ellipse">
            <a:avLst/>
          </a:prstGeom>
          <a:solidFill>
            <a:srgbClr val="2D6CF6"/>
          </a:solidFill>
          <a:ln w="12700">
            <a:solidFill>
              <a:srgbClr val="2D6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39128" y="44897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Redis＋PostgreSQL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10528" y="5047488"/>
            <a:ext cx="73152" cy="73152"/>
          </a:xfrm>
          <a:prstGeom prst="ellipse">
            <a:avLst/>
          </a:prstGeom>
          <a:solidFill>
            <a:srgbClr val="2D6CF6"/>
          </a:solidFill>
          <a:ln w="12700">
            <a:solidFill>
              <a:srgbClr val="2D6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39128" y="4965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模組化部署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070848" y="1737360"/>
            <a:ext cx="2542032" cy="4251960"/>
          </a:xfrm>
          <a:prstGeom prst="roundRect">
            <a:avLst>
              <a:gd name="adj" fmla="val 5755"/>
            </a:avLst>
          </a:prstGeom>
          <a:solidFill>
            <a:srgbClr val="0C2135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0" y="20299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合作平台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326880" y="269748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快速取得即時數據，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擴充既有產品服務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326880" y="3703320"/>
            <a:ext cx="1920240" cy="0"/>
          </a:xfrm>
          <a:prstGeom prst="line">
            <a:avLst/>
          </a:prstGeom>
          <a:noFill/>
          <a:ln w="12700">
            <a:solidFill>
              <a:srgbClr val="1D3B54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9345168" y="4096512"/>
            <a:ext cx="73152" cy="73152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73768" y="40142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資料與事件串接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345168" y="4572000"/>
            <a:ext cx="73152" cy="73152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73768" y="44897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報表與儀表板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345168" y="5047488"/>
            <a:ext cx="73152" cy="73152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73768" y="4965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可客製輸出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GO-TO-MARKET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從單點驗證到規模部署，降低導入風險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以場域驗證、分階段擴充與介面整合，建立可複製的商業導入模式。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2377440" cy="2057400"/>
          </a:xfrm>
          <a:prstGeom prst="roundRect">
            <a:avLst>
              <a:gd name="adj" fmla="val 6667"/>
            </a:avLst>
          </a:prstGeom>
          <a:solidFill>
            <a:srgbClr val="0C2135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04825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2542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場域盤點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3090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床位、網路、警報流程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與串接需求確認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810512"/>
            <a:ext cx="2377440" cy="2057400"/>
          </a:xfrm>
          <a:prstGeom prst="roundRect">
            <a:avLst>
              <a:gd name="adj" fmla="val 6667"/>
            </a:avLst>
          </a:prstGeom>
          <a:solidFill>
            <a:srgbClr val="0C2135"/>
          </a:solidFill>
          <a:ln w="12700">
            <a:solidFill>
              <a:srgbClr val="2D6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204825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F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94176" y="2542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小規模 Pilot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94176" y="3090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校準量測與 AI 門檻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驗證照護流程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810512"/>
            <a:ext cx="2377440" cy="2057400"/>
          </a:xfrm>
          <a:prstGeom prst="roundRect">
            <a:avLst>
              <a:gd name="adj" fmla="val 6667"/>
            </a:avLst>
          </a:prstGeom>
          <a:solidFill>
            <a:srgbClr val="0C2135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04825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28816" y="2542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樓層部署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28816" y="3090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設備、儀表板、告警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與人員教育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0" y="1810512"/>
            <a:ext cx="2377440" cy="2057400"/>
          </a:xfrm>
          <a:prstGeom prst="roundRect">
            <a:avLst>
              <a:gd name="adj" fmla="val 6667"/>
            </a:avLst>
          </a:prstGeom>
          <a:solidFill>
            <a:srgbClr val="0C2135"/>
          </a:solidFill>
          <a:ln w="12700">
            <a:solidFill>
              <a:srgbClr val="36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204825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63456" y="2542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平台整合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63456" y="3090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API、報表、事件推送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與營運優化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4343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商業組合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74520" y="4251960"/>
            <a:ext cx="2880360" cy="1078992"/>
          </a:xfrm>
          <a:prstGeom prst="roundRect">
            <a:avLst>
              <a:gd name="adj" fmla="val 12712"/>
            </a:avLst>
          </a:prstGeom>
          <a:solidFill>
            <a:srgbClr val="0B2537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硬體設備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4846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感測器與邊緣設備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20640" y="4251960"/>
            <a:ext cx="2880360" cy="1078992"/>
          </a:xfrm>
          <a:prstGeom prst="roundRect">
            <a:avLst>
              <a:gd name="adj" fmla="val 12712"/>
            </a:avLst>
          </a:prstGeom>
          <a:solidFill>
            <a:srgbClr val="0B2537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軟體訂閱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4846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監測、AI 分析與管理介面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366760" y="4251960"/>
            <a:ext cx="2880360" cy="1078992"/>
          </a:xfrm>
          <a:prstGeom prst="roundRect">
            <a:avLst>
              <a:gd name="adj" fmla="val 12712"/>
            </a:avLst>
          </a:prstGeom>
          <a:solidFill>
            <a:srgbClr val="0B2537"/>
          </a:solidFill>
          <a:ln w="12700">
            <a:solidFill>
              <a:srgbClr val="1D3B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整合服務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95360" y="4846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API、報表與指定平台串接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874520" y="56235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依床位數、功能模組、資料留存與整合範圍規劃方案。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11696" y="402336"/>
            <a:ext cx="5047488" cy="5788152"/>
          </a:xfrm>
          <a:prstGeom prst="roundRect">
            <a:avLst>
              <a:gd name="adj" fmla="val 2899"/>
            </a:avLst>
          </a:prstGeom>
          <a:solidFill>
            <a:srgbClr val="102A42"/>
          </a:solidFill>
          <a:ln w="12700">
            <a:solidFill>
              <a:srgbClr val="1D3B54"/>
            </a:solidFill>
            <a:prstDash val="solid"/>
          </a:ln>
        </p:spPr>
      </p:sp>
      <p:pic>
        <p:nvPicPr>
          <p:cNvPr id="3" name="Image 0" descr="assets/care_scene.png">    </p:cNvPr>
          <p:cNvPicPr>
            <a:picLocks noChangeAspect="1"/>
          </p:cNvPicPr>
          <p:nvPr/>
        </p:nvPicPr>
        <p:blipFill>
          <a:blip r:embed="rId1"/>
          <a:srcRect l="11681" r="11681" t="0" b="0"/>
          <a:stretch/>
        </p:blipFill>
        <p:spPr>
          <a:xfrm>
            <a:off x="6748272" y="438912"/>
            <a:ext cx="4974336" cy="5715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658368"/>
            <a:ext cx="1417320" cy="310896"/>
          </a:xfrm>
          <a:prstGeom prst="roundRect">
            <a:avLst>
              <a:gd name="adj" fmla="val 47059"/>
            </a:avLst>
          </a:prstGeom>
          <a:solidFill>
            <a:srgbClr val="2B1D1B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667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8A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NEXT STEP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1353312"/>
            <a:ext cx="5623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讓照護人員，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把時間留給照護。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21792" y="299923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從一個床位開始驗證，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建立可擴充到整層、整院與跨平台的照護感知能力。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" y="4315968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0C2135"/>
          </a:solidFill>
          <a:ln w="12700">
            <a:solidFill>
              <a:srgbClr val="19C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45354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C3D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建議下一步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" y="4882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場域訪談  →  Pilot 規格  →  量測與流程驗證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587044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AFC4D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CARE SENSE  ·  CONTACTLESS CARE INTELLIGENCE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F8DA7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CARE SENSE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 SENSE｜無接觸 AIoT 照護感測系統</dc:title>
  <dc:subject>無接觸 AIoT 照護感測產品商業簡報</dc:subject>
  <dc:creator>AIoT Care Sensing Team</dc:creator>
  <cp:lastModifiedBy>AIoT Care Sensing Team</cp:lastModifiedBy>
  <cp:revision>1</cp:revision>
  <dcterms:created xsi:type="dcterms:W3CDTF">2026-07-17T07:53:05Z</dcterms:created>
  <dcterms:modified xsi:type="dcterms:W3CDTF">2026-07-17T07:53:05Z</dcterms:modified>
</cp:coreProperties>
</file>